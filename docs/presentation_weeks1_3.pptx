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327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AI-Based Fall and Abnormal Motion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0E0EF"/>
                </a:solidFill>
                <a:latin typeface="Calibri"/>
              </a:defRPr>
            </a:pPr>
            <a:r>
              <a:t>Using Depth-Assisted Single-Camera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Progress Report — Weeks 1 to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6576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27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0E0EF"/>
                </a:solidFill>
                <a:latin typeface="Calibri"/>
              </a:defRPr>
            </a:pPr>
            <a:r>
              <a:t>The Challenge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Falls are a leading cause of injury among the elderly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Timely detection can reduce serious health complications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Traditional approaches require expensive RGB-D cameras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(Microsoft Kinect, Intel RealSense)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6D6A0"/>
                </a:solidFill>
                <a:latin typeface="Calibri"/>
              </a:defRPr>
            </a:pPr>
            <a:r>
              <a:t>Our Approach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Use a single regular camera (no depth sensor)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Estimate depth using AI (MiDaS monocular depth)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Combine depth + body pose for 3D posture analysis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Classify fall vs normal using temporal AI (LSTM)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27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0E0EF"/>
                </a:solidFill>
                <a:latin typeface="Calibri"/>
              </a:defRPr>
            </a:pPr>
            <a:r>
              <a:t>Key Innovation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Depth-assisted single-camera approach eliminates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the need for expensive depth-sensing hardware.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The system works with:</a:t>
            </a:r>
          </a:p>
          <a:p>
            <a:pPr>
              <a:spcBef>
                <a:spcPts val="600"/>
              </a:spcBef>
              <a:defRPr sz="1600" b="0">
                <a:solidFill>
                  <a:srgbClr val="06D6A0"/>
                </a:solidFill>
                <a:latin typeface="Calibri"/>
              </a:defRPr>
            </a:pPr>
            <a:r>
              <a:t>  • Any standard webcam or CCTV camera</a:t>
            </a:r>
          </a:p>
          <a:p>
            <a:pPr>
              <a:spcBef>
                <a:spcPts val="600"/>
              </a:spcBef>
              <a:defRPr sz="1600" b="0">
                <a:solidFill>
                  <a:srgbClr val="06D6A0"/>
                </a:solidFill>
                <a:latin typeface="Calibri"/>
              </a:defRPr>
            </a:pPr>
            <a:r>
              <a:t>  • Pre-recorded video files</a:t>
            </a:r>
          </a:p>
          <a:p>
            <a:pPr>
              <a:spcBef>
                <a:spcPts val="600"/>
              </a:spcBef>
              <a:defRPr sz="1600" b="0">
                <a:solidFill>
                  <a:srgbClr val="06D6A0"/>
                </a:solidFill>
                <a:latin typeface="Calibri"/>
              </a:defRPr>
            </a:pPr>
            <a:r>
              <a:t>  • No special hardware required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FFD166"/>
                </a:solidFill>
                <a:latin typeface="Calibri"/>
              </a:defRPr>
            </a:pPr>
            <a:r>
              <a:t>Objective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Build a real-time fall detection system that is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affordable, accurate, and deployable anywhere.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6576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645920" cy="10972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1B1B2F"/>
                </a:solidFill>
              </a:defRPr>
            </a:pPr>
            <a:r>
              <a:t>RGB Video</a:t>
            </a:r>
          </a:p>
          <a:p>
            <a:pPr algn="ctr">
              <a:defRPr sz="1200" b="1">
                <a:solidFill>
                  <a:srgbClr val="1B1B2F"/>
                </a:solidFill>
              </a:defRPr>
            </a:pPr>
            <a:r>
              <a:t>Frame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371600"/>
            <a:ext cx="1828800" cy="1097280"/>
          </a:xfrm>
          <a:prstGeom prst="round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1B1B2F"/>
                </a:solidFill>
              </a:defRPr>
            </a:pPr>
            <a:r>
              <a:t>MiDaS</a:t>
            </a:r>
          </a:p>
          <a:p>
            <a:pPr algn="ctr">
              <a:defRPr sz="1200" b="1">
                <a:solidFill>
                  <a:srgbClr val="1B1B2F"/>
                </a:solidFill>
              </a:defRPr>
            </a:pPr>
            <a:r>
              <a:t>Depth Estimation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3200400"/>
            <a:ext cx="1828800" cy="1097280"/>
          </a:xfrm>
          <a:prstGeom prst="round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1B1B2F"/>
                </a:solidFill>
              </a:defRPr>
            </a:pPr>
            <a:r>
              <a:t>Pose</a:t>
            </a:r>
          </a:p>
          <a:p>
            <a:pPr algn="ctr">
              <a:defRPr sz="1200" b="1">
                <a:solidFill>
                  <a:srgbClr val="1B1B2F"/>
                </a:solidFill>
              </a:defRPr>
            </a:pPr>
            <a:r>
              <a:t>Estimation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286000"/>
            <a:ext cx="1828800" cy="128016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1B1B2F"/>
                </a:solidFill>
              </a:defRPr>
            </a:pPr>
            <a:r>
              <a:t>Feature</a:t>
            </a:r>
          </a:p>
          <a:p>
            <a:pPr algn="ctr">
              <a:defRPr sz="1200" b="1">
                <a:solidFill>
                  <a:srgbClr val="1B1B2F"/>
                </a:solidFill>
              </a:defRPr>
            </a:pPr>
            <a:r>
              <a:t>Extraction</a:t>
            </a:r>
          </a:p>
          <a:p>
            <a:pPr algn="ctr">
              <a:defRPr sz="1200" b="1">
                <a:solidFill>
                  <a:srgbClr val="1B1B2F"/>
                </a:solidFill>
              </a:defRPr>
            </a:pPr>
            <a:r>
              <a:t>(177-dim)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286000"/>
            <a:ext cx="1828800" cy="109728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1B1B2F"/>
                </a:solidFill>
              </a:defRPr>
            </a:pPr>
            <a:r>
              <a:t>LSTM</a:t>
            </a:r>
          </a:p>
          <a:p>
            <a:pPr algn="ctr">
              <a:defRPr sz="1200" b="1">
                <a:solidFill>
                  <a:srgbClr val="1B1B2F"/>
                </a:solidFill>
              </a:defRPr>
            </a:pPr>
            <a:r>
              <a:t>Classifier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2286000"/>
            <a:ext cx="1645920" cy="1097280"/>
          </a:xfrm>
          <a:prstGeom prst="round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1B1B2F"/>
                </a:solidFill>
              </a:defRPr>
            </a:pPr>
            <a:r>
              <a:t>Fall / Normal</a:t>
            </a:r>
          </a:p>
          <a:p>
            <a:pPr algn="ctr">
              <a:defRPr sz="1200" b="1">
                <a:solidFill>
                  <a:srgbClr val="1B1B2F"/>
                </a:solidFill>
              </a:defRPr>
            </a:pPr>
            <a:r>
              <a:t>Decision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6040" y="2651760"/>
            <a:ext cx="41148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937760" y="2651760"/>
            <a:ext cx="41148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406640" y="2651760"/>
            <a:ext cx="41148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9829800" y="2651760"/>
            <a:ext cx="41148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2606040" y="1737360"/>
            <a:ext cx="41148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2606040" y="3566160"/>
            <a:ext cx="41148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10698480" cy="2011680"/>
          </a:xfrm>
          <a:prstGeom prst="roundRect">
            <a:avLst/>
          </a:prstGeom>
          <a:solidFill>
            <a:srgbClr val="27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805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0E0EF"/>
                </a:solidFill>
                <a:latin typeface="Calibri"/>
              </a:defRPr>
            </a:pPr>
            <a:r>
              <a:t>Pipeline Description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1. MiDaS generates a depth map from a regular RGB frame — estimates distance of each pixel from camera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2. Pose Estimation detects 33 skeletal joints (head, shoulders, hips, knees, ankles, etc.)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3. Feature Extraction combines depth + pose into 177-dimensional vector per frame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4. Bidirectional LSTM processes 30 consecutive frames and classifies: Fall or Normal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6576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27273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UR Fall Detection Dataset (URFD)</a:t>
            </a:r>
          </a:p>
          <a:p>
            <a:pPr>
              <a:spcBef>
                <a:spcPts val="600"/>
              </a:spcBef>
              <a:defRPr sz="1400" b="1">
                <a:solidFill>
                  <a:srgbClr val="06D6A0"/>
                </a:solidFill>
                <a:latin typeface="Calibri"/>
              </a:defRPr>
            </a:pPr>
            <a:r>
              <a:t>Primary Dataset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70 video sequences total</a:t>
            </a:r>
          </a:p>
          <a:p>
            <a:pPr>
              <a:spcBef>
                <a:spcPts val="600"/>
              </a:spcBef>
              <a:defRPr sz="1500" b="0">
                <a:solidFill>
                  <a:srgbClr val="90E0EF"/>
                </a:solidFill>
                <a:latin typeface="Calibri"/>
              </a:defRPr>
            </a:pPr>
            <a:r>
              <a:t>  - 30 fall sequences</a:t>
            </a:r>
          </a:p>
          <a:p>
            <a:pPr>
              <a:spcBef>
                <a:spcPts val="600"/>
              </a:spcBef>
              <a:defRPr sz="1500" b="0">
                <a:solidFill>
                  <a:srgbClr val="90E0EF"/>
                </a:solidFill>
                <a:latin typeface="Calibri"/>
              </a:defRPr>
            </a:pPr>
            <a:r>
              <a:t>  - 40 ADL (normal activity) sequences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Recorded with Microsoft Kinect sensor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Provides both RGB and depth streams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Resolution: 640 x 480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Reference: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Kwolek &amp; Kepski, Computers in Biology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and Medicine, 2014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27273F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NTU RGB+D Dataset</a:t>
            </a:r>
          </a:p>
          <a:p>
            <a:pPr>
              <a:spcBef>
                <a:spcPts val="600"/>
              </a:spcBef>
              <a:defRPr sz="1400" b="1">
                <a:solidFill>
                  <a:srgbClr val="FFD166"/>
                </a:solidFill>
                <a:latin typeface="Calibri"/>
              </a:defRPr>
            </a:pPr>
            <a:r>
              <a:t>Supplementary Dataset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56,880 action sequences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60 action classes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Used selectively:</a:t>
            </a:r>
          </a:p>
          <a:p>
            <a:pPr>
              <a:spcBef>
                <a:spcPts val="600"/>
              </a:spcBef>
              <a:defRPr sz="1500" b="0">
                <a:solidFill>
                  <a:srgbClr val="90E0EF"/>
                </a:solidFill>
                <a:latin typeface="Calibri"/>
              </a:defRPr>
            </a:pPr>
            <a:r>
              <a:t>  - A043: Falling down</a:t>
            </a:r>
          </a:p>
          <a:p>
            <a:pPr>
              <a:spcBef>
                <a:spcPts val="600"/>
              </a:spcBef>
              <a:defRPr sz="1500" b="0">
                <a:solidFill>
                  <a:srgbClr val="90E0EF"/>
                </a:solidFill>
                <a:latin typeface="Calibri"/>
              </a:defRPr>
            </a:pPr>
            <a:r>
              <a:t>  - Normal activities for supplementary</a:t>
            </a:r>
          </a:p>
          <a:p>
            <a:pPr>
              <a:spcBef>
                <a:spcPts val="600"/>
              </a:spcBef>
              <a:defRPr sz="1500" b="0">
                <a:solidFill>
                  <a:srgbClr val="90E0EF"/>
                </a:solidFill>
                <a:latin typeface="Calibri"/>
              </a:defRPr>
            </a:pPr>
            <a:r>
              <a:t>    training data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Purpose: Increase diversity of normal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motion patterns and improve model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generalization.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Reference: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Shahroudy et al., CVPR 2016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Monocular Depth Estimation — MiDaS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54864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27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0E0EF"/>
                </a:solidFill>
                <a:latin typeface="Calibri"/>
              </a:defRPr>
            </a:pPr>
            <a:r>
              <a:t>How It Works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MiDaS (by Intel ISL) is a pre-trained neural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network for monocular depth estimation.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Takes a single RGB image as input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Outputs a depth map (same resolution)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Darker = closer, Lighter = farther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6D6A0"/>
                </a:solidFill>
                <a:latin typeface="Calibri"/>
              </a:defRPr>
            </a:pPr>
            <a:r>
              <a:t>Model Variant: MiDaS_small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Lightweight — suitable for real-time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Based on EfficientNet-Lite3 backbone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Pre-trained on mixed datasets (10+)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27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0E0EF"/>
                </a:solidFill>
                <a:latin typeface="Calibri"/>
              </a:defRPr>
            </a:pPr>
            <a:r>
              <a:t>Why Monocular Depth?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Advantages over hardware depth sensors: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06D6A0"/>
                </a:solidFill>
                <a:latin typeface="Calibri"/>
              </a:defRPr>
            </a:pPr>
            <a:r>
              <a:t>1. No special camera needed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Works with any RGB camera/webcam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06D6A0"/>
                </a:solidFill>
                <a:latin typeface="Calibri"/>
              </a:defRPr>
            </a:pPr>
            <a:r>
              <a:t>2. Lower cost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Kinect: ~$200, RealSense: ~$300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Regular webcam: ~$20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06D6A0"/>
                </a:solidFill>
                <a:latin typeface="Calibri"/>
              </a:defRPr>
            </a:pPr>
            <a:r>
              <a:t>3. Works with existing CCTV footage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 Can retrofit existing surveillance systems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D166"/>
                </a:solidFill>
                <a:latin typeface="Calibri"/>
              </a:defRPr>
            </a:pPr>
            <a:r>
              <a:t>Preprocessing (Section 4.2):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Depth normalization to [0, 1]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Noise filtering for missing values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Human Pose Estimation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6576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27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0E0EF"/>
                </a:solidFill>
                <a:latin typeface="Calibri"/>
              </a:defRPr>
            </a:pPr>
            <a:r>
              <a:t>Skeletal Landmark Detection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Extracts 33 key body landmarks per frame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Each landmark provides:</a:t>
            </a:r>
          </a:p>
          <a:p>
            <a:pPr>
              <a:spcBef>
                <a:spcPts val="600"/>
              </a:spcBef>
              <a:defRPr sz="1500" b="0">
                <a:solidFill>
                  <a:srgbClr val="90E0EF"/>
                </a:solidFill>
                <a:latin typeface="Calibri"/>
              </a:defRPr>
            </a:pPr>
            <a:r>
              <a:t>  • x, y — position in image (normalized 0-1)</a:t>
            </a:r>
          </a:p>
          <a:p>
            <a:pPr>
              <a:spcBef>
                <a:spcPts val="600"/>
              </a:spcBef>
              <a:defRPr sz="1500" b="0">
                <a:solidFill>
                  <a:srgbClr val="90E0EF"/>
                </a:solidFill>
                <a:latin typeface="Calibri"/>
              </a:defRPr>
            </a:pPr>
            <a:r>
              <a:t>  • z — relative depth</a:t>
            </a:r>
          </a:p>
          <a:p>
            <a:pPr>
              <a:spcBef>
                <a:spcPts val="600"/>
              </a:spcBef>
              <a:defRPr sz="1500" b="0">
                <a:solidFill>
                  <a:srgbClr val="90E0EF"/>
                </a:solidFill>
                <a:latin typeface="Calibri"/>
              </a:defRPr>
            </a:pPr>
            <a:r>
              <a:t>  • visibility — detection confidence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6D6A0"/>
                </a:solidFill>
                <a:latin typeface="Calibri"/>
              </a:defRPr>
            </a:pPr>
            <a:r>
              <a:t>Key joints for fall detection: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Head (nose) — tracks head height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Shoulders — body orientation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Hips — center of gravity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Knees — leg posture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Ankles — ground contact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27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0E0EF"/>
                </a:solidFill>
                <a:latin typeface="Calibri"/>
              </a:defRPr>
            </a:pPr>
            <a:r>
              <a:t>Why Pose Estimation?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Falls have characteristic patterns: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6D6A0"/>
                </a:solidFill>
                <a:latin typeface="Calibri"/>
              </a:defRPr>
            </a:pPr>
            <a:r>
              <a:t>Standing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Vertical body, joints aligned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Bounding box: tall and narrow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D166"/>
                </a:solidFill>
                <a:latin typeface="Calibri"/>
              </a:defRPr>
            </a:pPr>
            <a:r>
              <a:t>Falling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Rapid downward joint movement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Hip and head drop suddenly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EF476F"/>
                </a:solidFill>
                <a:latin typeface="Calibri"/>
              </a:defRPr>
            </a:pPr>
            <a:r>
              <a:t>Fallen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Horizontal body on ground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Bounding box: wide and short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By tracking joints over time,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we capture the full fall motion.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Feature Extraction (Section 4.3)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4572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177-dimensional feature vector per frame combining depth and pose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2011680"/>
          </a:xfrm>
          <a:prstGeom prst="roundRect">
            <a:avLst/>
          </a:prstGeom>
          <a:solidFill>
            <a:srgbClr val="27273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Pose Landmarks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00B4D8"/>
                </a:solidFill>
                <a:latin typeface="Calibri"/>
              </a:defRPr>
            </a:pPr>
            <a:r>
              <a:t>Dimensions: 132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33 joints x 4 (x, y, z, vis)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737360"/>
            <a:ext cx="3474720" cy="2011680"/>
          </a:xfrm>
          <a:prstGeom prst="roundRect">
            <a:avLst/>
          </a:prstGeom>
          <a:solidFill>
            <a:srgbClr val="27273F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Depth at Joints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48CAE4"/>
                </a:solidFill>
                <a:latin typeface="Calibri"/>
              </a:defRPr>
            </a:pPr>
            <a:r>
              <a:t>Dimensions: 33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Depth value at each joint location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737360"/>
            <a:ext cx="3474720" cy="2011680"/>
          </a:xfrm>
          <a:prstGeom prst="roundRect">
            <a:avLst/>
          </a:prstGeom>
          <a:solidFill>
            <a:srgbClr val="27273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Bounding Box Ratio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06D6A0"/>
                </a:solidFill>
                <a:latin typeface="Calibri"/>
              </a:defRPr>
            </a:pPr>
            <a:r>
              <a:t>Dimensions: 1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Width / Height — posture indicator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474720" cy="2011680"/>
          </a:xfrm>
          <a:prstGeom prst="roundRect">
            <a:avLst/>
          </a:prstGeom>
          <a:solidFill>
            <a:srgbClr val="27273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Distance to Floor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06D6A0"/>
                </a:solidFill>
                <a:latin typeface="Calibri"/>
              </a:defRPr>
            </a:pPr>
            <a:r>
              <a:t>Dimensions: 1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Height above ground plane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4114800"/>
            <a:ext cx="3474720" cy="2011680"/>
          </a:xfrm>
          <a:prstGeom prst="roundRect">
            <a:avLst/>
          </a:prstGeom>
          <a:solidFill>
            <a:srgbClr val="27273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Center of Mass Height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06D6A0"/>
                </a:solidFill>
                <a:latin typeface="Calibri"/>
              </a:defRPr>
            </a:pPr>
            <a:r>
              <a:t>Dimensions: 1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Weighted average joint height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114800"/>
            <a:ext cx="3474720" cy="2011680"/>
          </a:xfrm>
          <a:prstGeom prst="roundRect">
            <a:avLst/>
          </a:prstGeom>
          <a:solidFill>
            <a:srgbClr val="27273F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Vertical Velocities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FFD166"/>
                </a:solidFill>
                <a:latin typeface="Calibri"/>
              </a:defRPr>
            </a:pPr>
            <a:r>
              <a:t>Dimensions: 9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Frame-to-frame downward speed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6126480"/>
            <a:ext cx="3931920" cy="5486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6172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1B2F"/>
                </a:solidFill>
                <a:latin typeface="Calibri"/>
              </a:defRPr>
            </a:pPr>
            <a:r>
              <a:t>Total Feature Vector:  177 dimensions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LSTM Classifier (Section 4.4)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4572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486400" cy="5212080"/>
          </a:xfrm>
          <a:prstGeom prst="roundRect">
            <a:avLst/>
          </a:prstGeom>
          <a:solidFill>
            <a:srgbClr val="27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0E0EF"/>
                </a:solidFill>
                <a:latin typeface="Calibri"/>
              </a:defRPr>
            </a:pPr>
            <a:r>
              <a:t>Model Architecture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Input: 30 frames x 177 features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06D6A0"/>
                </a:solidFill>
                <a:latin typeface="Calibri"/>
              </a:defRPr>
            </a:pPr>
            <a:r>
              <a:t>Bidirectional LSTM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2 layers, hidden size 128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Processes sequence forward AND backward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Captures context from past and future frames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FFD166"/>
                </a:solidFill>
                <a:latin typeface="Calibri"/>
              </a:defRPr>
            </a:pPr>
            <a:r>
              <a:t>Attention Mechanism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Learns to focus on the most important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frames in the sequence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The actual fall frames get highest weight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EF476F"/>
                </a:solidFill>
                <a:latin typeface="Calibri"/>
              </a:defRPr>
            </a:pPr>
            <a:r>
              <a:t>Output: Binary classification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Probability: 0.0 (Normal) to 1.0 (Fall)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Threshold: 0.5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00B4D8"/>
                </a:solidFill>
                <a:latin typeface="Calibri"/>
              </a:defRPr>
            </a:pPr>
            <a:r>
              <a:t>Total Parameters: 745,060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188720"/>
            <a:ext cx="4846320" cy="5212080"/>
          </a:xfrm>
          <a:prstGeom prst="roundRect">
            <a:avLst/>
          </a:prstGeom>
          <a:solidFill>
            <a:srgbClr val="27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371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0E0EF"/>
                </a:solidFill>
                <a:latin typeface="Calibri"/>
              </a:defRPr>
            </a:pPr>
            <a:r>
              <a:t>Why LSTM?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A fall is a TEMPORAL event:</a:t>
            </a:r>
          </a:p>
          <a:p>
            <a:pPr>
              <a:spcBef>
                <a:spcPts val="600"/>
              </a:spcBef>
              <a:defRPr sz="1600" b="0">
                <a:solidFill>
                  <a:srgbClr val="FFD166"/>
                </a:solidFill>
                <a:latin typeface="Calibri"/>
              </a:defRPr>
            </a:pPr>
            <a:r>
              <a:t>  Standing → Falling → On Ground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You cannot detect a fall from a single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image — you need the SEQUENCE.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LSTM is designed for sequential data:</a:t>
            </a:r>
          </a:p>
          <a:p>
            <a:pPr>
              <a:spcBef>
                <a:spcPts val="600"/>
              </a:spcBef>
              <a:defRPr sz="1500" b="0">
                <a:solidFill>
                  <a:srgbClr val="06D6A0"/>
                </a:solidFill>
                <a:latin typeface="Calibri"/>
              </a:defRPr>
            </a:pPr>
            <a:r>
              <a:t>  • Remembers important past information</a:t>
            </a:r>
          </a:p>
          <a:p>
            <a:pPr>
              <a:spcBef>
                <a:spcPts val="600"/>
              </a:spcBef>
              <a:defRPr sz="1500" b="0">
                <a:solidFill>
                  <a:srgbClr val="06D6A0"/>
                </a:solidFill>
                <a:latin typeface="Calibri"/>
              </a:defRPr>
            </a:pPr>
            <a:r>
              <a:t>  • Forgets irrelevant information</a:t>
            </a:r>
          </a:p>
          <a:p>
            <a:pPr>
              <a:spcBef>
                <a:spcPts val="600"/>
              </a:spcBef>
              <a:defRPr sz="1500" b="0">
                <a:solidFill>
                  <a:srgbClr val="06D6A0"/>
                </a:solidFill>
                <a:latin typeface="Calibri"/>
              </a:defRPr>
            </a:pPr>
            <a:r>
              <a:t>  • Learns long-term dependencies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FFD166"/>
                </a:solidFill>
                <a:latin typeface="Calibri"/>
              </a:defRPr>
            </a:pPr>
            <a:r>
              <a:t>Training Details: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Optimizer: Adam (lr = 0.001)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Loss: Binary Cross-Entropy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Early stopping (patience = 10)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LR scheduling (reduce on plateau)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Gradient clipping (max norm = 1.0)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6576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5212080"/>
          </a:xfrm>
          <a:prstGeom prst="roundRect">
            <a:avLst/>
          </a:prstGeom>
          <a:solidFill>
            <a:srgbClr val="27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0E0EF"/>
                </a:solidFill>
                <a:latin typeface="Calibri"/>
              </a:defRPr>
            </a:pPr>
            <a:r>
              <a:t>Directory Layout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500" b="1">
                <a:solidFill>
                  <a:srgbClr val="06D6A0"/>
                </a:solidFill>
                <a:latin typeface="Calibri"/>
              </a:defRPr>
            </a:pPr>
            <a:r>
              <a:t>fall-detection/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README.md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config.py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requirements.txt</a:t>
            </a:r>
          </a:p>
          <a:p>
            <a:pPr>
              <a:spcBef>
                <a:spcPts val="600"/>
              </a:spcBef>
              <a:defRPr sz="1400" b="1">
                <a:solidFill>
                  <a:srgbClr val="FFD166"/>
                </a:solidFill>
                <a:latin typeface="Calibri"/>
              </a:defRPr>
            </a:pPr>
            <a:r>
              <a:t>  src/</a:t>
            </a:r>
          </a:p>
          <a:p>
            <a:pPr>
              <a:spcBef>
                <a:spcPts val="600"/>
              </a:spcBef>
              <a:defRPr sz="1400" b="0">
                <a:solidFill>
                  <a:srgbClr val="90E0EF"/>
                </a:solidFill>
                <a:latin typeface="Calibri"/>
              </a:defRPr>
            </a:pPr>
            <a:r>
              <a:t>    data/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  download_dataset.py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  preprocess.py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  dataset.py</a:t>
            </a:r>
          </a:p>
          <a:p>
            <a:pPr>
              <a:spcBef>
                <a:spcPts val="600"/>
              </a:spcBef>
              <a:defRPr sz="1400" b="0">
                <a:solidFill>
                  <a:srgbClr val="90E0EF"/>
                </a:solidFill>
                <a:latin typeface="Calibri"/>
              </a:defRPr>
            </a:pPr>
            <a:r>
              <a:t>    models/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  depth_estimator.py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  pose_estimator.py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  feature_extractor.py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  fall_detector.py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train.py | evaluate.py | inference.py</a:t>
            </a:r>
          </a:p>
          <a:p>
            <a:pPr>
              <a:spcBef>
                <a:spcPts val="600"/>
              </a:spcBef>
              <a:defRPr sz="1400" b="0">
                <a:solidFill>
                  <a:srgbClr val="90E0EF"/>
                </a:solidFill>
                <a:latin typeface="Calibri"/>
              </a:defRPr>
            </a:pPr>
            <a:r>
              <a:t>  results/ | models/ | docs/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5212080"/>
          </a:xfrm>
          <a:prstGeom prst="roundRect">
            <a:avLst/>
          </a:prstGeom>
          <a:solidFill>
            <a:srgbClr val="27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0E0EF"/>
                </a:solidFill>
                <a:latin typeface="Calibri"/>
              </a:defRPr>
            </a:pPr>
            <a:r>
              <a:t>Technologies Used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6D6A0"/>
                </a:solidFill>
                <a:latin typeface="Calibri"/>
              </a:defRPr>
            </a:pPr>
            <a:r>
              <a:t>  Python 3.13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Core language</a:t>
            </a:r>
          </a:p>
          <a:p>
            <a:pPr>
              <a:spcBef>
                <a:spcPts val="600"/>
              </a:spcBef>
              <a:defRPr sz="1600" b="1">
                <a:solidFill>
                  <a:srgbClr val="06D6A0"/>
                </a:solidFill>
                <a:latin typeface="Calibri"/>
              </a:defRPr>
            </a:pPr>
            <a:r>
              <a:t>  PyTorch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Deep learning framework</a:t>
            </a:r>
          </a:p>
          <a:p>
            <a:pPr>
              <a:spcBef>
                <a:spcPts val="600"/>
              </a:spcBef>
              <a:defRPr sz="1600" b="1">
                <a:solidFill>
                  <a:srgbClr val="06D6A0"/>
                </a:solidFill>
                <a:latin typeface="Calibri"/>
              </a:defRPr>
            </a:pPr>
            <a:r>
              <a:t>  MiDaS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Monocular depth estimation</a:t>
            </a:r>
          </a:p>
          <a:p>
            <a:pPr>
              <a:spcBef>
                <a:spcPts val="600"/>
              </a:spcBef>
              <a:defRPr sz="1600" b="1">
                <a:solidFill>
                  <a:srgbClr val="06D6A0"/>
                </a:solidFill>
                <a:latin typeface="Calibri"/>
              </a:defRPr>
            </a:pPr>
            <a:r>
              <a:t>  OpenCV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Image/video processing</a:t>
            </a:r>
          </a:p>
          <a:p>
            <a:pPr>
              <a:spcBef>
                <a:spcPts val="600"/>
              </a:spcBef>
              <a:defRPr sz="1600" b="1">
                <a:solidFill>
                  <a:srgbClr val="06D6A0"/>
                </a:solidFill>
                <a:latin typeface="Calibri"/>
              </a:defRPr>
            </a:pPr>
            <a:r>
              <a:t>  NumPy / SciPy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Numerical computation</a:t>
            </a:r>
          </a:p>
          <a:p>
            <a:pPr>
              <a:spcBef>
                <a:spcPts val="600"/>
              </a:spcBef>
              <a:defRPr sz="1600" b="1">
                <a:solidFill>
                  <a:srgbClr val="06D6A0"/>
                </a:solidFill>
                <a:latin typeface="Calibri"/>
              </a:defRPr>
            </a:pPr>
            <a:r>
              <a:t>  scikit-learn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Evaluation metrics</a:t>
            </a:r>
          </a:p>
          <a:p>
            <a:pPr>
              <a:spcBef>
                <a:spcPts val="600"/>
              </a:spcBef>
              <a:defRPr sz="1600" b="1">
                <a:solidFill>
                  <a:srgbClr val="06D6A0"/>
                </a:solidFill>
                <a:latin typeface="Calibri"/>
              </a:defRPr>
            </a:pPr>
            <a:r>
              <a:t>  Matplotlib / Seaborn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Visualization and plots</a:t>
            </a:r>
          </a:p>
          <a:p>
            <a:pPr>
              <a:spcBef>
                <a:spcPts val="600"/>
              </a:spcBef>
              <a:defRPr sz="1600" b="1">
                <a:solidFill>
                  <a:srgbClr val="06D6A0"/>
                </a:solidFill>
                <a:latin typeface="Calibri"/>
              </a:defRPr>
            </a:pPr>
            <a:r>
              <a:t>  Git / GitHub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Version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Six-Week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6576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48640" cy="64008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1B2F"/>
                </a:solidFill>
              </a:defRPr>
            </a:pPr>
            <a:r>
              <a:t>DONE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097280"/>
            <a:ext cx="9966960" cy="640080"/>
          </a:xfrm>
          <a:prstGeom prst="roundRect">
            <a:avLst/>
          </a:prstGeom>
          <a:solidFill>
            <a:srgbClr val="27273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143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143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Setup +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143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Environment, dataset download, Git repo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548640" cy="64008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1B2F"/>
                </a:solidFill>
              </a:defRPr>
            </a:pPr>
            <a:r>
              <a:t>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965960"/>
            <a:ext cx="9966960" cy="640080"/>
          </a:xfrm>
          <a:prstGeom prst="roundRect">
            <a:avLst/>
          </a:prstGeom>
          <a:solidFill>
            <a:srgbClr val="27273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0116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Depth + 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01167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MiDaS and pose estimation modules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39"/>
            <a:ext cx="548640" cy="64008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1B2F"/>
                </a:solidFill>
              </a:defRPr>
            </a:pPr>
            <a:r>
              <a:t>DONE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63040" y="2834639"/>
            <a:ext cx="9966960" cy="640080"/>
          </a:xfrm>
          <a:prstGeom prst="roundRect">
            <a:avLst/>
          </a:prstGeom>
          <a:solidFill>
            <a:srgbClr val="27273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288035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8803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Features +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88035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Feature engineering, preprocessing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03320"/>
            <a:ext cx="548640" cy="640080"/>
          </a:xfrm>
          <a:prstGeom prst="roundRect">
            <a:avLst/>
          </a:prstGeom>
          <a:solidFill>
            <a:srgbClr val="27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63040" y="3703320"/>
            <a:ext cx="9966960" cy="640080"/>
          </a:xfrm>
          <a:prstGeom prst="roundRect">
            <a:avLst/>
          </a:prstGeom>
          <a:solidFill>
            <a:srgbClr val="27273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37490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CC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7490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LSTM model training, hyperparameter tuning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72000"/>
            <a:ext cx="548640" cy="640080"/>
          </a:xfrm>
          <a:prstGeom prst="roundRect">
            <a:avLst/>
          </a:prstGeom>
          <a:solidFill>
            <a:srgbClr val="27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463040" y="4572000"/>
            <a:ext cx="9966960" cy="640080"/>
          </a:xfrm>
          <a:prstGeom prst="roundRect">
            <a:avLst/>
          </a:prstGeom>
          <a:solidFill>
            <a:srgbClr val="27273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CC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Evaluation +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617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Metrics, confusion matrix, demo video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40680"/>
            <a:ext cx="548640" cy="640080"/>
          </a:xfrm>
          <a:prstGeom prst="roundRect">
            <a:avLst/>
          </a:prstGeom>
          <a:solidFill>
            <a:srgbClr val="27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463040" y="5440680"/>
            <a:ext cx="9966960" cy="640080"/>
          </a:xfrm>
          <a:prstGeom prst="roundRect">
            <a:avLst/>
          </a:prstGeom>
          <a:solidFill>
            <a:srgbClr val="27273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0" y="5486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CC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5486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Final documentation,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  <a:latin typeface="Calibri"/>
              </a:defRPr>
            </a:pPr>
            <a:r>
              <a:t>Next Steps (Weeks 4-6)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4572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5029200"/>
          </a:xfrm>
          <a:prstGeom prst="roundRect">
            <a:avLst/>
          </a:prstGeom>
          <a:solidFill>
            <a:srgbClr val="27273F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166"/>
                </a:solidFill>
                <a:latin typeface="Calibri"/>
              </a:defRPr>
            </a:pPr>
            <a:r>
              <a:t>Week 4: Training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Train LSTM on full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URFD dataset (70 seq)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Hyperparameter tuning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- Hidden size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- Sequence length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- Learning rate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Cross-validation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Log training curves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188720"/>
            <a:ext cx="3383280" cy="5029200"/>
          </a:xfrm>
          <a:prstGeom prst="roundRect">
            <a:avLst/>
          </a:prstGeom>
          <a:solidFill>
            <a:srgbClr val="27273F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76F"/>
                </a:solidFill>
                <a:latin typeface="Calibri"/>
              </a:defRPr>
            </a:pPr>
            <a:r>
              <a:t>Week 5: Evaluation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Run evaluation metrics: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- Accuracy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- Sensitivity/Recall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- Specificity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- F1-Score, AUC-ROC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Confusion matrix plot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ROC curve plot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Create demo video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188720"/>
            <a:ext cx="3383280" cy="5029200"/>
          </a:xfrm>
          <a:prstGeom prst="roundRect">
            <a:avLst/>
          </a:prstGeom>
          <a:solidFill>
            <a:srgbClr val="27273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  <a:latin typeface="Calibri"/>
              </a:defRPr>
            </a:pPr>
            <a:r>
              <a:t>Week 6: Report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Final results chapter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Literature comparison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Conclusion + future work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Clean up repository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Presentation slides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Submit final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560320"/>
            <a:ext cx="66751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0E0E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GitHub: github.com/m25ai1127/fall-detection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